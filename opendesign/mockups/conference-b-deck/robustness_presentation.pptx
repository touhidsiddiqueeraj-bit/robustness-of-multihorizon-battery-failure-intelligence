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How Far Does the</a:t>
            </a:r>
            <a:br/>
            <a:r>
              <a:t>Model Hold?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CCCCCC"/>
                </a:solidFill>
                <a:latin typeface="Calibri"/>
              </a:defRPr>
            </a:pPr>
            <a:r>
              <a:t>Robustness of Multihorizon Battery</a:t>
            </a:r>
            <a:br/>
            <a:r>
              <a:t>Failure Intelligence Under Realistic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Calibri"/>
              </a:defRPr>
            </a:pPr>
            <a:r>
              <a:t>Shikdar &amp; Laaksonen — University of Vaasa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Lab results don't travel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 published hazard model was trained on clean lab data: full cycles, fixed C-rates, controlled temperatures.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Real BESS operation is fundamentally different: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Partial cycling — varying depths of discharge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Temperature noise — sensor drift, thermal gradients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Irregular rest — variable idle between cycles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828800"/>
            <a:ext cx="4114800" cy="2743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286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C2626"/>
                </a:solidFill>
                <a:latin typeface="Calibri"/>
              </a:defRPr>
            </a:pPr>
            <a:r>
              <a:t>Does calibration survive</a:t>
            </a:r>
            <a:br/>
            <a:r>
              <a:t>when the model meets real data?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Systematic robustness test</a:t>
            </a:r>
            <a:br/>
            <a:r>
              <a:t>across four severity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Perturb lab data → apply frozen model →</a:t>
            </a:r>
            <a:br/>
            <a:r>
              <a:t>measure calibration → test recalibration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Perturbation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Calibri"/>
              </a:defRPr>
            </a:pPr>
            <a:r>
              <a:t>NASA discharge curves truncated at random DoD, with Gaussian temperature noise and proportional rest noise.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4754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42062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DoD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Temp noise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75–100%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±0.5°C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55–75%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±1.0°C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35–55%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±2.0°C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15–35%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±3.0°C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5 seeds per level · 20 perturbed datasets · 20,560 records</a:t>
            </a:r>
          </a:p>
        </p:txBody>
      </p:sp>
      <p:pic>
        <p:nvPicPr>
          <p:cNvPr id="8" name="Picture 7" descr="fig_e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3535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Calibration degrades ~9×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15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0.031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Clean baseline ECE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H=20, lab conditions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47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47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Perturbed ECE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47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Severity 1–4, H=20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79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0.65–0.74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79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Perturbed 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79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Down from 0.985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11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S1 saturates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11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Near-max loss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11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Even 75–100% DoD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004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ECE jumps 0.031 → 0.277–0.293 — a nine-fold increase at H=20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Degradation saturates at Severity 1: even minimal partial cycling causes near-max loss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AUC drops more gracefully (0.985 → 0.65–0.74): discrimination ≠ calibration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Root cause: Vmin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 primary driver is a shift in the minimum voltage feature under partial cycling.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19456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1520" y="2031680"/>
            <a:ext cx="211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2.3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0" y="3206840"/>
            <a:ext cx="211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Full discharge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011680"/>
            <a:ext cx="219456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400" y="2031680"/>
            <a:ext cx="211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3.2 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0400" y="3206840"/>
            <a:ext cx="211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75% DoD truncation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661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t>A 39% increase — the XGBoost model learned thresholds on clean ranges; the isotonic calibrator can't adapt to the shifted distribution.</a:t>
            </a:r>
          </a:p>
        </p:txBody>
      </p:sp>
      <p:pic>
        <p:nvPicPr>
          <p:cNvPr id="13" name="Picture 12" descr="fig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46405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SHAP confirms Vmin dominance</a:t>
            </a:r>
          </a:p>
        </p:txBody>
      </p:sp>
      <p:pic>
        <p:nvPicPr>
          <p:cNvPr id="5" name="Picture 4" descr="fig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18320" cy="36165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6217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Vmin is the dominant feature under both clean and perturbed regimes. Under perturbation, every feature distribution shifts, breaking the calibrator.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Recalibration on 10%</a:t>
            </a:r>
            <a:br/>
            <a:r>
              <a:t>recovers 71–88% of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ECE drops from ~0.28 to 0.06–0.09</a:t>
            </a:r>
            <a:br/>
            <a:r>
              <a:t>Evaluated on held-out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7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Recalibration: held-out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Calibri"/>
              </a:defRPr>
            </a:pPr>
            <a:r>
              <a:t>Isotonic regression fit on 10%, evaluated on held-out 90%: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4754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Clean ECE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Perturbed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Recalibrated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0.272–0.313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0.057–0.076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0.277–0.293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0.060–0.073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0.288–0.316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0.076–0.092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0.331–0.381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0.080–0.094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Recovery consistent across all severity levels and horizons</a:t>
            </a:r>
          </a:p>
        </p:txBody>
      </p:sp>
      <p:pic>
        <p:nvPicPr>
          <p:cNvPr id="8" name="Picture 7" descr="fig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43392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Three operating zones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291840" cy="27432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6A34A"/>
                </a:solidFill>
                <a:latin typeface="Calibri"/>
              </a:defRPr>
            </a:pPr>
            <a:r>
              <a:t>● 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&lt; 0.05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Clean lab conditions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291840" cy="27432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Calibri"/>
              </a:defRPr>
            </a:pPr>
            <a:r>
              <a:t>● Warning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0.05–0.10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Recalibrated operation</a:t>
            </a:r>
            <a:br/>
            <a:r>
              <a:t>10% operational sample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286000"/>
            <a:ext cx="3291840" cy="2743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C2626"/>
                </a:solidFill>
                <a:latin typeface="Calibri"/>
              </a:defRPr>
            </a:pPr>
            <a:r>
              <a:t>●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&gt; 0.10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Direct deployment under</a:t>
            </a:r>
            <a:br/>
            <a:r>
              <a:t>any partial cycling (ECE &gt; 0.27)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Direct deployment under partial cycling pushes ECE &gt; 0.27 — firmly in the unsafe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Practical deployment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E293B"/>
                </a:solidFill>
                <a:latin typeface="Calibri"/>
              </a:defRPr>
            </a:pPr>
            <a:r>
              <a:t>1. Deploy the frozen XGBoost model as-is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2. Collect 50–100 operational cycles from normal BESS operation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3. Fit a new isotonic regression on these cycles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4. Deploy the recalibrated model — no base classifier retraining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No original training data required · No additional feature engineering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828800"/>
            <a:ext cx="32004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20116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6A34A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5603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operational sample suffices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11 /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Calibration is fragile.</a:t>
            </a:r>
            <a:br/>
            <a:r>
              <a:t>Recalibration is practical.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Multihorizon hazard models are not inherently robust to</a:t>
            </a:r>
            <a:br/>
            <a:r>
              <a:t>operational distribution shift, but a lightweight recalibration</a:t>
            </a:r>
            <a:br/>
            <a:r>
              <a:t>step suffices for field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Shikdar &amp; Laaksonen — University of Vaasa, Finland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