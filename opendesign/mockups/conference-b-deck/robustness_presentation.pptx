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How Far Does the</a:t>
            </a:r>
            <a:br/>
            <a:r>
              <a:t>Model Hold?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CCCCCC"/>
                </a:solidFill>
                <a:latin typeface="Calibri"/>
              </a:defRPr>
            </a:pPr>
            <a:r>
              <a:t>Robustness of Multihorizon Battery</a:t>
            </a:r>
            <a:br/>
            <a:r>
              <a:t>Failure Intelligence Under Realistic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Calibri"/>
              </a:defRPr>
            </a:pPr>
            <a:r>
              <a:t>Shikdar &amp; Laaksonen — University of Vaasa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Lab results don't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published hazard model was trained on clean lab data: full cycles, fixed C-rates, controlled temperatures.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Real BESS operation is fundamentally different: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Partial cycling — varying depths of discharge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Temperature noise — sensor drift, thermal gradients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Irregular rest — variable idle between cycles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28800"/>
            <a:ext cx="411480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C2626"/>
                </a:solidFill>
                <a:latin typeface="Calibri"/>
              </a:defRPr>
            </a:pPr>
            <a:r>
              <a:t>Does calibration survive</a:t>
            </a:r>
            <a:br/>
            <a:r>
              <a:t>when the model meets real data?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Systematic robustness test</a:t>
            </a:r>
            <a:br/>
            <a:r>
              <a:t>across four severity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Perturb lab data → apply frozen model →</a:t>
            </a:r>
            <a:br/>
            <a:r>
              <a:t>measure calibration → test recalibration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Perturbation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NASA discharge curves truncated at random DoD, with Gaussian temperature noise and proportional rest noise.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4754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960"/>
                <a:gridCol w="1584960"/>
                <a:gridCol w="1584960"/>
              </a:tblGrid>
              <a:tr h="42062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DoD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Temp noise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75–100%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±0.5°C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55–75%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±1.0°C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35–55%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±2.0°C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15–35%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±3.0°C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5 seeds per level · 20 perturbed datasets · 20,560 records</a:t>
            </a:r>
          </a:p>
        </p:txBody>
      </p:sp>
      <p:pic>
        <p:nvPicPr>
          <p:cNvPr id="8" name="Picture 7" descr="fig_e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34994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Calibration degrades ~9×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731520"/>
            <a:ext cx="2560320" cy="23774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1520" y="914400"/>
            <a:ext cx="248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0.031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0" y="2286000"/>
            <a:ext cx="248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baseline ECE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269748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H=20, lab conditions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731520"/>
            <a:ext cx="2560320" cy="23774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720" y="914400"/>
            <a:ext cx="248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4720" y="2286000"/>
            <a:ext cx="248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4720" y="269748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Severity 1–4, H=20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731520"/>
            <a:ext cx="2560320" cy="23774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7920" y="914400"/>
            <a:ext cx="248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0.65–0.74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7920" y="2286000"/>
            <a:ext cx="248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Perturbed AUC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7920" y="269748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Down from 0.985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731520"/>
            <a:ext cx="2560320" cy="237744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1120" y="914400"/>
            <a:ext cx="248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S1 saturates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1120" y="2286000"/>
            <a:ext cx="248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Near-max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1120" y="2697480"/>
            <a:ext cx="248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Even 75–100% DoD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9184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ECE jumps 0.031 → 0.277–0.293 — a nine-fold increase at H=20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Degradation saturates at Severity 1: even minimal partial cycling causes near-max loss</a:t>
            </a:r>
          </a:p>
          <a:p>
            <a:pPr algn="l">
              <a:spcBef>
                <a:spcPts val="800"/>
              </a:spcBef>
              <a:defRPr sz="1800" b="0">
                <a:solidFill>
                  <a:srgbClr val="1E293B"/>
                </a:solidFill>
                <a:latin typeface="Calibri"/>
              </a:defRPr>
            </a:pPr>
            <a:r>
              <a:t>• AUC drops more gracefully (0.985 → 0.65–0.74): discrimination ≠ calibration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Root cause: Vmin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Calibri"/>
              </a:defRPr>
            </a:pPr>
            <a:r>
              <a:t>The primary driver is a shift in the minimum voltage feature under partial cycling.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19456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1520" y="1920240"/>
            <a:ext cx="211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2.3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0" y="2651760"/>
            <a:ext cx="211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Full discharge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828800"/>
            <a:ext cx="219456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400" y="1920240"/>
            <a:ext cx="211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3.2 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0400" y="2651760"/>
            <a:ext cx="211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75% DoD truncation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4903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A 39% increase — the XGBoost model learned thresholds on clean ranges; the isotonic calibrator can't adapt to the shifted distribution.</a:t>
            </a:r>
          </a:p>
        </p:txBody>
      </p:sp>
      <p:pic>
        <p:nvPicPr>
          <p:cNvPr id="13" name="Picture 12" descr="fig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303520" cy="4629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SHAP confirms Vmin dominance</a:t>
            </a:r>
          </a:p>
        </p:txBody>
      </p:sp>
      <p:pic>
        <p:nvPicPr>
          <p:cNvPr id="5" name="Picture 4" descr="fig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35112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303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Vmin is the dominant feature under both clean and perturbed regimes. Under perturbation, every feature distribution shifts, breaking the calibrator.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Feature shift across severities</a:t>
            </a:r>
          </a:p>
        </p:txBody>
      </p:sp>
      <p:pic>
        <p:nvPicPr>
          <p:cNvPr id="5" name="Picture 4" descr="fi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32720" cy="51167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Recalibration on 10%</a:t>
            </a:r>
            <a:br/>
            <a:r>
              <a:t>recovers 71–88% of 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ECE drops from ~0.28 to 0.06–0.09</a:t>
            </a:r>
            <a:br/>
            <a:r>
              <a:t>Evaluated on held-out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Recalibration: held-out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Calibri"/>
              </a:defRPr>
            </a:pPr>
            <a:r>
              <a:t>All three recalibration methods recover calibration on held-out data. Mean±std across 5 seeds × 4 severities: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6583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Clean ECE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Perturbed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Isotonic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Platt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Temp.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0.297±0.017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0.067±0.022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0.064±0.013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0.074±0.020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0.286±0.012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0.067±0.027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0.083±0.037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0.086±0.023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0.299±0.014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0.081±0.024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0.079±0.036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0.113±0.027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H=50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0.362±0.022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0.086±0.028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0.076±0.036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0.159±0.021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114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Isotonic and Platt comparable at all horizons; temperature scaling underperforms at H=30+</a:t>
            </a:r>
          </a:p>
        </p:txBody>
      </p:sp>
      <p:pic>
        <p:nvPicPr>
          <p:cNvPr id="8" name="Picture 7" descr="fig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914400"/>
            <a:ext cx="4572000" cy="37682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Sample-size sweep: 5%–50%</a:t>
            </a:r>
          </a:p>
        </p:txBody>
      </p:sp>
      <p:pic>
        <p:nvPicPr>
          <p:cNvPr id="5" name="Picture 4" descr="fig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48213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4748B"/>
                </a:solidFill>
                <a:latin typeface="Calibri"/>
              </a:defRPr>
            </a:pPr>
            <a:r>
              <a:t>ECE decreases monotonically with sample fraction. The 10% fraction used throughout sits at the elbow — diminishing returns above 20%.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F172A"/>
                </a:solidFill>
                <a:latin typeface="Calibri"/>
              </a:defRPr>
            </a:pPr>
            <a:r>
              <a:t>Domain randomization: modest extra 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Calibri"/>
              </a:defRPr>
            </a:pPr>
            <a:r>
              <a:t>Training on perturbed data provides additional protection at longer horizons.</a:t>
            </a:r>
          </a:p>
        </p:txBody>
      </p:sp>
      <p:pic>
        <p:nvPicPr>
          <p:cNvPr id="6" name="Picture 5" descr="fig_d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68880"/>
            <a:ext cx="68580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DR+H=50 ECE=0.047 vs. standard+isotonic H=50 ECE=0.087 (45% reduction). Minimal gain at H=10.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71600"/>
            <a:ext cx="365760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Trade-off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19456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Calibri"/>
              </a:defRPr>
            </a:pPr>
            <a:r>
              <a:t>• 4× training data overhead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E293B"/>
                </a:solidFill>
                <a:latin typeface="Calibri"/>
              </a:defRPr>
            </a:pPr>
            <a:r>
              <a:t>• ~10 min extra training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E293B"/>
                </a:solidFill>
                <a:latin typeface="Calibri"/>
              </a:defRPr>
            </a:pPr>
            <a:r>
              <a:t>• Same base classifier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E293B"/>
                </a:solidFill>
                <a:latin typeface="Calibri"/>
              </a:defRPr>
            </a:pPr>
            <a:r>
              <a:t>• Harder to explain in 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572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6A34A"/>
                </a:solidFill>
                <a:latin typeface="Calibri"/>
              </a:defRPr>
            </a:pPr>
            <a:r>
              <a:t>For most deployments:</a:t>
            </a:r>
            <a:br/>
            <a:r>
              <a:t>recalibration alone suffices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Three operating zones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291840" cy="2743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6A34A"/>
                </a:solidFill>
                <a:latin typeface="Calibri"/>
              </a:defRPr>
            </a:pPr>
            <a:r>
              <a:t>●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&lt; 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Clean lab conditions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27432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Calibri"/>
              </a:defRPr>
            </a:pPr>
            <a:r>
              <a:t>● 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0.05–0.10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Recalibrated operation</a:t>
            </a:r>
            <a:br/>
            <a:r>
              <a:t>10% operational sample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86000"/>
            <a:ext cx="3291840" cy="2743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560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C2626"/>
                </a:solidFill>
                <a:latin typeface="Calibri"/>
              </a:defRPr>
            </a:pPr>
            <a:r>
              <a:t>●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293B"/>
                </a:solidFill>
                <a:latin typeface="Calibri"/>
              </a:defRPr>
            </a:pPr>
            <a:r>
              <a:t>ECE &gt; 0.10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747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Direct deployment under</a:t>
            </a:r>
            <a:br/>
            <a:r>
              <a:t>any partial cycling (ECE &gt; 0.27)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Direct deployment under partial cycling pushes ECE &gt; 0.27 — firmly in the unsafe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Practical deployment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E293B"/>
                </a:solidFill>
                <a:latin typeface="Calibri"/>
              </a:defRPr>
            </a:pPr>
            <a:r>
              <a:t>1. Deploy the frozen XGBoost model as-is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2. Collect 50–100 operational cycles from normal BESS operation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3. Fit a new isotonic regression on these cycles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1E293B"/>
                </a:solidFill>
                <a:latin typeface="Calibri"/>
              </a:defRPr>
            </a:pPr>
            <a:r>
              <a:t>4. Deploy the recalibrated model — no base classifier retraining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No original training data required · No additional feature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828800"/>
            <a:ext cx="3200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92024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6A34A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468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operational sample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926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at the elbow 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004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the ECE curve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818000"/>
            <a:ext cx="121920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Calibration is fragile.</a:t>
            </a:r>
            <a:br/>
            <a:r>
              <a:t>Recalibration is practical.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AA"/>
                </a:solidFill>
                <a:latin typeface="Calibri"/>
              </a:defRPr>
            </a:pPr>
            <a:r>
              <a:t>Multihorizon hazard models are not inherently robust to</a:t>
            </a:r>
            <a:br/>
            <a:r>
              <a:t>operational distribution shift, but a lightweight recalibration</a:t>
            </a:r>
            <a:br/>
            <a:r>
              <a:t>step suffices for field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Shikdar &amp; Laaksonen — University of Vaasa, Finland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