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818000"/>
            <a:ext cx="12192000" cy="40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9144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  <a:latin typeface="Calibri"/>
              </a:defRPr>
            </a:pPr>
            <a:r>
              <a:t>How Far Does the</a:t>
            </a:r>
            <a:br/>
            <a:r>
              <a:t>Model Hold?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4747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0">
                <a:solidFill>
                  <a:srgbClr val="CCCCCC"/>
                </a:solidFill>
                <a:latin typeface="Calibri"/>
              </a:defRPr>
            </a:pPr>
            <a:r>
              <a:t>Robustness of Multihorizon Battery</a:t>
            </a:r>
            <a:br/>
            <a:r>
              <a:t>Failure Intelligence Under Realistic Conditions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5720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999999"/>
                </a:solidFill>
                <a:latin typeface="Calibri"/>
              </a:defRPr>
            </a:pPr>
            <a:r>
              <a:t>Shikdar &amp; Laaksonen — University of Vaasa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748B"/>
                </a:solidFill>
                <a:latin typeface="Calibri"/>
              </a:defRPr>
            </a:pPr>
            <a:r>
              <a:t>1 / 15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818000"/>
            <a:ext cx="12192000" cy="40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59E0B"/>
                </a:solidFill>
                <a:latin typeface="Calibri"/>
              </a:defRPr>
            </a:pPr>
            <a:r>
              <a:t>MOTIVATION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64008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F172A"/>
                </a:solidFill>
                <a:latin typeface="Calibri"/>
              </a:defRPr>
            </a:pPr>
            <a:r>
              <a:t>Lab results don't travel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46304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1E293B"/>
                </a:solidFill>
                <a:latin typeface="Calibri"/>
              </a:defRPr>
            </a:pPr>
            <a:r>
              <a:t>The published hazard model was trained on clean lab data: full cycles, fixed C-rates, controlled temperatures.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1945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1E293B"/>
                </a:solidFill>
                <a:latin typeface="Calibri"/>
              </a:defRPr>
            </a:pPr>
            <a:r>
              <a:t>Real BESS operation is fundamentally different: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74320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1E293B"/>
                </a:solidFill>
                <a:latin typeface="Calibri"/>
              </a:defRPr>
            </a:pPr>
            <a:r>
              <a:t>• Partial cycling — varying depths of discharge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1E293B"/>
                </a:solidFill>
                <a:latin typeface="Calibri"/>
              </a:defRPr>
            </a:pPr>
            <a:r>
              <a:t>• Temperature noise — sensor drift, thermal gradients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1E293B"/>
                </a:solidFill>
                <a:latin typeface="Calibri"/>
              </a:defRPr>
            </a:pPr>
            <a:r>
              <a:t>• Irregular rest — variable idle between cycles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0" y="1828800"/>
            <a:ext cx="4114800" cy="274320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0" y="22860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DC2626"/>
                </a:solidFill>
                <a:latin typeface="Calibri"/>
              </a:defRPr>
            </a:pPr>
            <a:r>
              <a:t>Does calibration survive</a:t>
            </a:r>
            <a:br/>
            <a:r>
              <a:t>when the model meets real data?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0" y="64008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748B"/>
                </a:solidFill>
                <a:latin typeface="Calibri"/>
              </a:defRPr>
            </a:pPr>
            <a:r>
              <a:t>2 / 15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818000"/>
            <a:ext cx="12192000" cy="40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45720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59E0B"/>
                </a:solidFill>
                <a:latin typeface="Calibri"/>
              </a:defRPr>
            </a:pPr>
            <a:r>
              <a:t>APPROACH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371600"/>
            <a:ext cx="9144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Calibri"/>
              </a:defRPr>
            </a:pPr>
            <a:r>
              <a:t>Systematic robustness test</a:t>
            </a:r>
            <a:br/>
            <a:r>
              <a:t>across four severity levels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4747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AAAAAA"/>
                </a:solidFill>
                <a:latin typeface="Calibri"/>
              </a:defRPr>
            </a:pPr>
            <a:r>
              <a:t>Perturb lab data → apply frozen model →</a:t>
            </a:r>
            <a:br/>
            <a:r>
              <a:t>measure calibration → test recalibration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748B"/>
                </a:solidFill>
                <a:latin typeface="Calibri"/>
              </a:defRPr>
            </a:pPr>
            <a:r>
              <a:t>3 / 15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818000"/>
            <a:ext cx="12192000" cy="40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59E0B"/>
                </a:solidFill>
                <a:latin typeface="Calibri"/>
              </a:defRPr>
            </a:pPr>
            <a:r>
              <a:t>EXPERIMENTAL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F172A"/>
                </a:solidFill>
                <a:latin typeface="Calibri"/>
              </a:defRPr>
            </a:pPr>
            <a:r>
              <a:t>Perturbation methodology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E293B"/>
                </a:solidFill>
                <a:latin typeface="Calibri"/>
              </a:defRPr>
            </a:pPr>
            <a:r>
              <a:t>NASA discharge curves truncated at random DoD, with Gaussian temperature noise and proportional rest noise.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2011680"/>
          <a:ext cx="475488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4960"/>
                <a:gridCol w="1584960"/>
                <a:gridCol w="1584960"/>
              </a:tblGrid>
              <a:tr h="420624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Level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DoD range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Temp noise</a:t>
                      </a:r>
                    </a:p>
                  </a:txBody>
                  <a:tcPr/>
                </a:tc>
              </a:tr>
              <a:tr h="420624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75–100%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±0.5°C</a:t>
                      </a:r>
                    </a:p>
                  </a:txBody>
                  <a:tcPr/>
                </a:tc>
              </a:tr>
              <a:tr h="420624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55–75%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±1.0°C</a:t>
                      </a:r>
                    </a:p>
                  </a:txBody>
                  <a:tcPr/>
                </a:tc>
              </a:tr>
              <a:tr h="420624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35–55%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±2.0°C</a:t>
                      </a:r>
                    </a:p>
                  </a:txBody>
                  <a:tcPr/>
                </a:tc>
              </a:tr>
              <a:tr h="420624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15–35%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±3.0°C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31520" y="411480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Calibri"/>
              </a:defRPr>
            </a:pPr>
            <a:r>
              <a:t>5 seeds per level · 20 perturbed datasets · 20,560 records</a:t>
            </a:r>
          </a:p>
        </p:txBody>
      </p:sp>
      <p:pic>
        <p:nvPicPr>
          <p:cNvPr id="8" name="Picture 7" descr="fig_e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097280"/>
            <a:ext cx="5303520" cy="349947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241280" y="64008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748B"/>
                </a:solidFill>
                <a:latin typeface="Calibri"/>
              </a:defRPr>
            </a:pPr>
            <a:r>
              <a:t>4 / 15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818000"/>
            <a:ext cx="12192000" cy="40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59E0B"/>
                </a:solidFill>
                <a:latin typeface="Calibri"/>
              </a:defRPr>
            </a:pPr>
            <a:r>
              <a:t>KEY FINDING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F172A"/>
                </a:solidFill>
                <a:latin typeface="Calibri"/>
              </a:defRPr>
            </a:pPr>
            <a:r>
              <a:t>Calibration degrades ~9×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731520"/>
            <a:ext cx="2560320" cy="237744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1520" y="914400"/>
            <a:ext cx="2480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F172A"/>
                </a:solidFill>
                <a:latin typeface="Calibri"/>
              </a:defRPr>
            </a:pPr>
            <a:r>
              <a:t>0.031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1520" y="2286000"/>
            <a:ext cx="248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4748B"/>
                </a:solidFill>
                <a:latin typeface="Calibri"/>
              </a:defRPr>
            </a:pPr>
            <a:r>
              <a:t>Clean baseline ECE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1520" y="2697480"/>
            <a:ext cx="248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Calibri"/>
              </a:defRPr>
            </a:pPr>
            <a:r>
              <a:t>H=20, lab conditions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0" y="731520"/>
            <a:ext cx="2560320" cy="237744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14720" y="914400"/>
            <a:ext cx="2480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F172A"/>
                </a:solidFill>
                <a:latin typeface="Calibri"/>
              </a:defRPr>
            </a:pPr>
            <a:r>
              <a:t>0.28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14720" y="2286000"/>
            <a:ext cx="248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4748B"/>
                </a:solidFill>
                <a:latin typeface="Calibri"/>
              </a:defRPr>
            </a:pPr>
            <a:r>
              <a:t>Perturbed ECE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14720" y="2697480"/>
            <a:ext cx="248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Calibri"/>
              </a:defRPr>
            </a:pPr>
            <a:r>
              <a:t>Severity 1–4, H=20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731520"/>
            <a:ext cx="2560320" cy="237744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57920" y="914400"/>
            <a:ext cx="2480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F172A"/>
                </a:solidFill>
                <a:latin typeface="Calibri"/>
              </a:defRPr>
            </a:pPr>
            <a:r>
              <a:t>0.65–0.74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57920" y="2286000"/>
            <a:ext cx="248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4748B"/>
                </a:solidFill>
                <a:latin typeface="Calibri"/>
              </a:defRPr>
            </a:pPr>
            <a:r>
              <a:t>Perturbed AUC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57920" y="2697480"/>
            <a:ext cx="248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Calibri"/>
              </a:defRPr>
            </a:pPr>
            <a:r>
              <a:t>Down from 0.985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61120" y="731520"/>
            <a:ext cx="2560320" cy="237744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01120" y="914400"/>
            <a:ext cx="2480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F172A"/>
                </a:solidFill>
                <a:latin typeface="Calibri"/>
              </a:defRPr>
            </a:pPr>
            <a:r>
              <a:t>S1 saturates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01120" y="2286000"/>
            <a:ext cx="248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4748B"/>
                </a:solidFill>
                <a:latin typeface="Calibri"/>
              </a:defRPr>
            </a:pPr>
            <a:r>
              <a:t>Near-max loss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01120" y="2697480"/>
            <a:ext cx="248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Calibri"/>
              </a:defRPr>
            </a:pPr>
            <a:r>
              <a:t>Even 75–100% DoD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3291840"/>
            <a:ext cx="10058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1E293B"/>
                </a:solidFill>
                <a:latin typeface="Calibri"/>
              </a:defRPr>
            </a:pPr>
            <a:r>
              <a:t>• ECE jumps 0.031 → 0.277–0.293 — a nine-fold increase at H=20</a:t>
            </a:r>
          </a:p>
          <a:p>
            <a:pPr algn="l">
              <a:spcBef>
                <a:spcPts val="800"/>
              </a:spcBef>
              <a:defRPr sz="1800" b="0">
                <a:solidFill>
                  <a:srgbClr val="1E293B"/>
                </a:solidFill>
                <a:latin typeface="Calibri"/>
              </a:defRPr>
            </a:pPr>
            <a:r>
              <a:t>• Degradation saturates at Severity 1: even minimal partial cycling causes near-max loss</a:t>
            </a:r>
          </a:p>
          <a:p>
            <a:pPr algn="l">
              <a:spcBef>
                <a:spcPts val="800"/>
              </a:spcBef>
              <a:defRPr sz="1800" b="0">
                <a:solidFill>
                  <a:srgbClr val="1E293B"/>
                </a:solidFill>
                <a:latin typeface="Calibri"/>
              </a:defRPr>
            </a:pPr>
            <a:r>
              <a:t>• AUC drops more gracefully (0.985 → 0.65–0.74): discrimination ≠ calibration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41280" y="64008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748B"/>
                </a:solidFill>
                <a:latin typeface="Calibri"/>
              </a:defRPr>
            </a:pPr>
            <a:r>
              <a:t>5 / 15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818000"/>
            <a:ext cx="12192000" cy="40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59E0B"/>
                </a:solidFill>
                <a:latin typeface="Calibri"/>
              </a:defRPr>
            </a:pPr>
            <a:r>
              <a:t>DIAGNOSIS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F172A"/>
                </a:solidFill>
                <a:latin typeface="Calibri"/>
              </a:defRPr>
            </a:pPr>
            <a:r>
              <a:t>Root cause: Vmin shift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1E293B"/>
                </a:solidFill>
                <a:latin typeface="Calibri"/>
              </a:defRPr>
            </a:pPr>
            <a:r>
              <a:t>The primary driver is a shift in the minimum voltage feature under partial cycling.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2194560" cy="164592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1520" y="1920240"/>
            <a:ext cx="211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F172A"/>
                </a:solidFill>
                <a:latin typeface="Calibri"/>
              </a:defRPr>
            </a:pPr>
            <a:r>
              <a:t>2.3 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1520" y="2651760"/>
            <a:ext cx="211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4748B"/>
                </a:solidFill>
                <a:latin typeface="Calibri"/>
              </a:defRPr>
            </a:pPr>
            <a:r>
              <a:t>Full discharge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0" y="1828800"/>
            <a:ext cx="2194560" cy="164592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40400" y="1920240"/>
            <a:ext cx="211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F172A"/>
                </a:solidFill>
                <a:latin typeface="Calibri"/>
              </a:defRPr>
            </a:pPr>
            <a:r>
              <a:t>3.2 V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40400" y="2651760"/>
            <a:ext cx="211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4748B"/>
                </a:solidFill>
                <a:latin typeface="Calibri"/>
              </a:defRPr>
            </a:pPr>
            <a:r>
              <a:t>75% DoD truncation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749039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4748B"/>
                </a:solidFill>
                <a:latin typeface="Calibri"/>
              </a:defRPr>
            </a:pPr>
            <a:r>
              <a:t>A 39% increase — the XGBoost model learned thresholds on clean ranges; the isotonic calibrator can't adapt to the shifted distribution.</a:t>
            </a:r>
          </a:p>
        </p:txBody>
      </p:sp>
      <p:pic>
        <p:nvPicPr>
          <p:cNvPr id="13" name="Picture 12" descr="fig_reliabi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097280"/>
            <a:ext cx="5303520" cy="462934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0241280" y="64008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748B"/>
                </a:solidFill>
                <a:latin typeface="Calibri"/>
              </a:defRPr>
            </a:pPr>
            <a:r>
              <a:t>6 / 15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818000"/>
            <a:ext cx="12192000" cy="40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59E0B"/>
                </a:solidFill>
                <a:latin typeface="Calibri"/>
              </a:defRPr>
            </a:pPr>
            <a:r>
              <a:t>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F172A"/>
                </a:solidFill>
                <a:latin typeface="Calibri"/>
              </a:defRPr>
            </a:pPr>
            <a:r>
              <a:t>SHAP confirms Vmin dominance</a:t>
            </a:r>
          </a:p>
        </p:txBody>
      </p:sp>
      <p:pic>
        <p:nvPicPr>
          <p:cNvPr id="5" name="Picture 4" descr="fig_sh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188720"/>
            <a:ext cx="9144000" cy="351123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371600" y="53035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4748B"/>
                </a:solidFill>
                <a:latin typeface="Calibri"/>
              </a:defRPr>
            </a:pPr>
            <a:r>
              <a:t>Vmin is the dominant feature under both clean and perturbed regimes. Under perturbation, every feature distribution shifts, breaking the calibrator.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0" y="64008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748B"/>
                </a:solidFill>
                <a:latin typeface="Calibri"/>
              </a:defRPr>
            </a:pPr>
            <a:r>
              <a:t>7 / 15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818000"/>
            <a:ext cx="12192000" cy="40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59E0B"/>
                </a:solidFill>
                <a:latin typeface="Calibri"/>
              </a:defRPr>
            </a:pPr>
            <a:r>
              <a:t>DIAGNOSIS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F172A"/>
                </a:solidFill>
                <a:latin typeface="Calibri"/>
              </a:defRPr>
            </a:pPr>
            <a:r>
              <a:t>Feature shift across severities</a:t>
            </a:r>
          </a:p>
        </p:txBody>
      </p:sp>
      <p:pic>
        <p:nvPicPr>
          <p:cNvPr id="5" name="Picture 4" descr="fig_d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280160"/>
            <a:ext cx="10332720" cy="511670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241280" y="64008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748B"/>
                </a:solidFill>
                <a:latin typeface="Calibri"/>
              </a:defRPr>
            </a:pPr>
            <a:r>
              <a:t>8 / 15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818000"/>
            <a:ext cx="12192000" cy="40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45720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59E0B"/>
                </a:solidFill>
                <a:latin typeface="Calibri"/>
              </a:defRPr>
            </a:pPr>
            <a:r>
              <a:t>KEY RESULT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371600"/>
            <a:ext cx="9144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Calibri"/>
              </a:defRPr>
            </a:pPr>
            <a:r>
              <a:t>Recalibration on 10%</a:t>
            </a:r>
            <a:br/>
            <a:r>
              <a:t>recovers 71–88% of the gap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4747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AAAAAA"/>
                </a:solidFill>
                <a:latin typeface="Calibri"/>
              </a:defRPr>
            </a:pPr>
            <a:r>
              <a:t>ECE drops from ~0.28 to 0.06–0.09</a:t>
            </a:r>
            <a:br/>
            <a:r>
              <a:t>Evaluated on held-out 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748B"/>
                </a:solidFill>
                <a:latin typeface="Calibri"/>
              </a:defRPr>
            </a:pPr>
            <a:r>
              <a:t>9 / 15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818000"/>
            <a:ext cx="12192000" cy="40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59E0B"/>
                </a:solidFill>
                <a:latin typeface="Calibri"/>
              </a:defRPr>
            </a:pPr>
            <a:r>
              <a:t>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F172A"/>
                </a:solidFill>
                <a:latin typeface="Calibri"/>
              </a:defRPr>
            </a:pPr>
            <a:r>
              <a:t>Recalibration: held-out evaluation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E293B"/>
                </a:solidFill>
                <a:latin typeface="Calibri"/>
              </a:defRPr>
            </a:pPr>
            <a:r>
              <a:t>All three recalibration methods recover calibration on held-out data. Mean±std across 5 seeds × 4 severities: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737360"/>
          <a:ext cx="658368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097280"/>
                <a:gridCol w="1097280"/>
                <a:gridCol w="1097280"/>
                <a:gridCol w="1097280"/>
                <a:gridCol w="1097280"/>
              </a:tblGrid>
              <a:tr h="45720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Horizon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Clean ECE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Perturbed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Isotonic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Platt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Temp.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H=10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0.010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0.297±0.017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6A34A"/>
                          </a:solidFill>
                          <a:latin typeface="Calibri"/>
                        </a:defRPr>
                      </a:pPr>
                      <a:r>
                        <a:t>0.067±0.022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6A34A"/>
                          </a:solidFill>
                          <a:latin typeface="Calibri"/>
                        </a:defRPr>
                      </a:pPr>
                      <a:r>
                        <a:t>0.064±0.013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6A34A"/>
                          </a:solidFill>
                          <a:latin typeface="Calibri"/>
                        </a:defRPr>
                      </a:pPr>
                      <a:r>
                        <a:t>0.066±0.024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H=20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0.031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0.286±0.012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6A34A"/>
                          </a:solidFill>
                          <a:latin typeface="Calibri"/>
                        </a:defRPr>
                      </a:pPr>
                      <a:r>
                        <a:t>0.067±0.027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6A34A"/>
                          </a:solidFill>
                          <a:latin typeface="Calibri"/>
                        </a:defRPr>
                      </a:pPr>
                      <a:r>
                        <a:t>0.083±0.037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6A34A"/>
                          </a:solidFill>
                          <a:latin typeface="Calibri"/>
                        </a:defRPr>
                      </a:pPr>
                      <a:r>
                        <a:t>0.087±0.022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H=30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0.013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0.299±0.014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6A34A"/>
                          </a:solidFill>
                          <a:latin typeface="Calibri"/>
                        </a:defRPr>
                      </a:pPr>
                      <a:r>
                        <a:t>0.081±0.024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6A34A"/>
                          </a:solidFill>
                          <a:latin typeface="Calibri"/>
                        </a:defRPr>
                      </a:pPr>
                      <a:r>
                        <a:t>0.079±0.036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6A34A"/>
                          </a:solidFill>
                          <a:latin typeface="Calibri"/>
                        </a:defRPr>
                      </a:pPr>
                      <a:r>
                        <a:t>0.104±0.019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H=50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0.023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0.362±0.022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6A34A"/>
                          </a:solidFill>
                          <a:latin typeface="Calibri"/>
                        </a:defRPr>
                      </a:pPr>
                      <a:r>
                        <a:t>0.086±0.028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6A34A"/>
                          </a:solidFill>
                          <a:latin typeface="Calibri"/>
                        </a:defRPr>
                      </a:pPr>
                      <a:r>
                        <a:t>0.076±0.036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6A34A"/>
                          </a:solidFill>
                          <a:latin typeface="Calibri"/>
                        </a:defRPr>
                      </a:pPr>
                      <a:r>
                        <a:t>0.137±0.026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31520" y="411480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Calibri"/>
              </a:defRPr>
            </a:pPr>
            <a:r>
              <a:t>All three methods comparable at H=10–30; temperature scaling underperforms at H=50</a:t>
            </a:r>
          </a:p>
        </p:txBody>
      </p:sp>
      <p:pic>
        <p:nvPicPr>
          <p:cNvPr id="8" name="Picture 7" descr="fig_combin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914400"/>
            <a:ext cx="4572000" cy="376822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241280" y="64008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748B"/>
                </a:solidFill>
                <a:latin typeface="Calibri"/>
              </a:defRPr>
            </a:pPr>
            <a:r>
              <a:t>10 / 15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818000"/>
            <a:ext cx="12192000" cy="40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59E0B"/>
                </a:solidFill>
                <a:latin typeface="Calibri"/>
              </a:defRPr>
            </a:pPr>
            <a:r>
              <a:t>ABLATION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F172A"/>
                </a:solidFill>
                <a:latin typeface="Calibri"/>
              </a:defRPr>
            </a:pPr>
            <a:r>
              <a:t>Sample-size sweep: 5%–50%</a:t>
            </a:r>
          </a:p>
        </p:txBody>
      </p:sp>
      <p:pic>
        <p:nvPicPr>
          <p:cNvPr id="5" name="Picture 4" descr="fig_swee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280160"/>
            <a:ext cx="7315200" cy="482138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14400" y="59436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64748B"/>
                </a:solidFill>
                <a:latin typeface="Calibri"/>
              </a:defRPr>
            </a:pPr>
            <a:r>
              <a:t>ECE decreases monotonically with sample fraction. The 10% fraction used throughout sits at the elbow — diminishing returns above 20%.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0" y="64008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748B"/>
                </a:solidFill>
                <a:latin typeface="Calibri"/>
              </a:defRPr>
            </a:pPr>
            <a:r>
              <a:t>11 / 15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818000"/>
            <a:ext cx="12192000" cy="40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59E0B"/>
                </a:solidFill>
                <a:latin typeface="Calibri"/>
              </a:defRPr>
            </a:pPr>
            <a:r>
              <a:t>ROBUSTNESS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F172A"/>
                </a:solidFill>
                <a:latin typeface="Calibri"/>
              </a:defRPr>
            </a:pPr>
            <a:r>
              <a:t>Domain randomization: modest extra gain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E293B"/>
                </a:solidFill>
                <a:latin typeface="Calibri"/>
              </a:defRPr>
            </a:pPr>
            <a:r>
              <a:t>Training on perturbed data provides additional protection at longer horizons.</a:t>
            </a:r>
          </a:p>
        </p:txBody>
      </p:sp>
      <p:pic>
        <p:nvPicPr>
          <p:cNvPr id="6" name="Picture 5" descr="fig_d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468880"/>
            <a:ext cx="6858000" cy="30861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566928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4748B"/>
                </a:solidFill>
                <a:latin typeface="Calibri"/>
              </a:defRPr>
            </a:pPr>
            <a:r>
              <a:t>DR+H=50 ECE=0.047 vs. standard+isotonic H=50 ECE=0.087 (45% reduction). Minimal gain at H=10.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0" y="1371600"/>
            <a:ext cx="365760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79" y="155448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F172A"/>
                </a:solidFill>
                <a:latin typeface="Calibri"/>
              </a:defRPr>
            </a:pPr>
            <a:r>
              <a:t>Trade-off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79" y="2194560"/>
            <a:ext cx="32918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E293B"/>
                </a:solidFill>
                <a:latin typeface="Calibri"/>
              </a:defRPr>
            </a:pPr>
            <a:r>
              <a:t>• 4× training data overhead</a:t>
            </a:r>
          </a:p>
          <a:p>
            <a:pPr algn="l">
              <a:spcBef>
                <a:spcPts val="600"/>
              </a:spcBef>
              <a:defRPr sz="1500" b="0">
                <a:solidFill>
                  <a:srgbClr val="1E293B"/>
                </a:solidFill>
                <a:latin typeface="Calibri"/>
              </a:defRPr>
            </a:pPr>
            <a:r>
              <a:t>• ~10 min extra training</a:t>
            </a:r>
          </a:p>
          <a:p>
            <a:pPr algn="l">
              <a:spcBef>
                <a:spcPts val="600"/>
              </a:spcBef>
              <a:defRPr sz="1500" b="0">
                <a:solidFill>
                  <a:srgbClr val="1E293B"/>
                </a:solidFill>
                <a:latin typeface="Calibri"/>
              </a:defRPr>
            </a:pPr>
            <a:r>
              <a:t>• Same base classifier</a:t>
            </a:r>
          </a:p>
          <a:p>
            <a:pPr algn="l">
              <a:spcBef>
                <a:spcPts val="600"/>
              </a:spcBef>
              <a:defRPr sz="1500" b="0">
                <a:solidFill>
                  <a:srgbClr val="1E293B"/>
                </a:solidFill>
                <a:latin typeface="Calibri"/>
              </a:defRPr>
            </a:pPr>
            <a:r>
              <a:t>• Harder to explain in ops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79" y="457200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6A34A"/>
                </a:solidFill>
                <a:latin typeface="Calibri"/>
              </a:defRPr>
            </a:pPr>
            <a:r>
              <a:t>For most deployments:</a:t>
            </a:r>
            <a:br/>
            <a:r>
              <a:t>recalibration alone suffices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0" y="64008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748B"/>
                </a:solidFill>
                <a:latin typeface="Calibri"/>
              </a:defRPr>
            </a:pPr>
            <a:r>
              <a:t>12 / 15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818000"/>
            <a:ext cx="12192000" cy="40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59E0B"/>
                </a:solidFill>
                <a:latin typeface="Calibri"/>
              </a:defRPr>
            </a:pPr>
            <a:r>
              <a:t>FRAMEWORK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F172A"/>
                </a:solidFill>
                <a:latin typeface="Calibri"/>
              </a:defRPr>
            </a:pPr>
            <a:r>
              <a:t>Three operating zones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286000"/>
            <a:ext cx="3291840" cy="274320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56032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16A34A"/>
                </a:solidFill>
                <a:latin typeface="Calibri"/>
              </a:defRPr>
            </a:pPr>
            <a:r>
              <a:t>● Safe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10896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E293B"/>
                </a:solidFill>
                <a:latin typeface="Calibri"/>
              </a:defRPr>
            </a:pPr>
            <a:r>
              <a:t>ECE &lt; 0.05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47472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4748B"/>
                </a:solidFill>
                <a:latin typeface="Calibri"/>
              </a:defRPr>
            </a:pPr>
            <a:r>
              <a:t>Clean lab conditions only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2286000"/>
            <a:ext cx="3291840" cy="2743200"/>
          </a:xfrm>
          <a:prstGeom prst="roundRect">
            <a:avLst/>
          </a:prstGeom>
          <a:solidFill>
            <a:srgbClr val="FFFBEB"/>
          </a:solidFill>
          <a:ln w="12700">
            <a:solidFill>
              <a:srgbClr val="FDE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9120" y="256032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D97706"/>
                </a:solidFill>
                <a:latin typeface="Calibri"/>
              </a:defRPr>
            </a:pPr>
            <a:r>
              <a:t>● Warning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310896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E293B"/>
                </a:solidFill>
                <a:latin typeface="Calibri"/>
              </a:defRPr>
            </a:pPr>
            <a:r>
              <a:t>ECE 0.05–0.10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347472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4748B"/>
                </a:solidFill>
                <a:latin typeface="Calibri"/>
              </a:defRPr>
            </a:pPr>
            <a:r>
              <a:t>Recalibrated operation</a:t>
            </a:r>
            <a:br/>
            <a:r>
              <a:t>10% operational sample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2286000"/>
            <a:ext cx="3291840" cy="274320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0" y="256032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DC2626"/>
                </a:solidFill>
                <a:latin typeface="Calibri"/>
              </a:defRPr>
            </a:pPr>
            <a:r>
              <a:t>● Unsafe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0" y="310896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E293B"/>
                </a:solidFill>
                <a:latin typeface="Calibri"/>
              </a:defRPr>
            </a:pPr>
            <a:r>
              <a:t>ECE &gt; 0.10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347472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4748B"/>
                </a:solidFill>
                <a:latin typeface="Calibri"/>
              </a:defRPr>
            </a:pPr>
            <a:r>
              <a:t>Direct deployment under</a:t>
            </a:r>
            <a:br/>
            <a:r>
              <a:t>any partial cycling (ECE &gt; 0.27)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3035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4748B"/>
                </a:solidFill>
                <a:latin typeface="Calibri"/>
              </a:defRPr>
            </a:pPr>
            <a:r>
              <a:t>Direct deployment under partial cycling pushes ECE &gt; 0.27 — firmly in the unsafe zone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0" y="64008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748B"/>
                </a:solidFill>
                <a:latin typeface="Calibri"/>
              </a:defRPr>
            </a:pPr>
            <a:r>
              <a:t>13 / 15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818000"/>
            <a:ext cx="12192000" cy="40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59E0B"/>
                </a:solidFill>
                <a:latin typeface="Calibri"/>
              </a:defRPr>
            </a:pPr>
            <a:r>
              <a:t>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F172A"/>
                </a:solidFill>
                <a:latin typeface="Calibri"/>
              </a:defRPr>
            </a:pPr>
            <a:r>
              <a:t>Practical deployment path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6858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1E293B"/>
                </a:solidFill>
                <a:latin typeface="Calibri"/>
              </a:defRPr>
            </a:pPr>
            <a:r>
              <a:t>1. Deploy the frozen XGBoost model as-is</a:t>
            </a:r>
          </a:p>
          <a:p>
            <a:pPr algn="l">
              <a:spcBef>
                <a:spcPts val="1000"/>
              </a:spcBef>
              <a:defRPr sz="2000" b="0">
                <a:solidFill>
                  <a:srgbClr val="1E293B"/>
                </a:solidFill>
                <a:latin typeface="Calibri"/>
              </a:defRPr>
            </a:pPr>
            <a:r>
              <a:t>2. Collect 50–100 operational cycles from normal BESS operation</a:t>
            </a:r>
          </a:p>
          <a:p>
            <a:pPr algn="l">
              <a:spcBef>
                <a:spcPts val="1000"/>
              </a:spcBef>
              <a:defRPr sz="2000" b="0">
                <a:solidFill>
                  <a:srgbClr val="1E293B"/>
                </a:solidFill>
                <a:latin typeface="Calibri"/>
              </a:defRPr>
            </a:pPr>
            <a:r>
              <a:t>3. Fit a new isotonic regression on these cycles</a:t>
            </a:r>
          </a:p>
          <a:p>
            <a:pPr algn="l">
              <a:spcBef>
                <a:spcPts val="1000"/>
              </a:spcBef>
              <a:defRPr sz="2000" b="0">
                <a:solidFill>
                  <a:srgbClr val="1E293B"/>
                </a:solidFill>
                <a:latin typeface="Calibri"/>
              </a:defRPr>
            </a:pPr>
            <a:r>
              <a:t>4. Deploy the recalibrated model — no base classifier retraining needed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38912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Calibri"/>
              </a:defRPr>
            </a:pPr>
            <a:r>
              <a:t>No original training data required · No additional feature engineering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0" y="1828800"/>
            <a:ext cx="320040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0" y="1920240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16A34A"/>
                </a:solidFill>
                <a:latin typeface="Calibri"/>
              </a:defRPr>
            </a:pPr>
            <a:r>
              <a:t>10%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0" y="246888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4748B"/>
                </a:solidFill>
                <a:latin typeface="Calibri"/>
              </a:defRPr>
            </a:pPr>
            <a:r>
              <a:t>operational sample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0" y="292608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4748B"/>
                </a:solidFill>
                <a:latin typeface="Calibri"/>
              </a:defRPr>
            </a:pPr>
            <a:r>
              <a:t>at the elbow of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0" y="320040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4748B"/>
                </a:solidFill>
                <a:latin typeface="Calibri"/>
              </a:defRPr>
            </a:pPr>
            <a:r>
              <a:t>the ECE curve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0" y="64008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748B"/>
                </a:solidFill>
                <a:latin typeface="Calibri"/>
              </a:defRPr>
            </a:pPr>
            <a:r>
              <a:t>14 / 15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818000"/>
            <a:ext cx="12192000" cy="40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45720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59E0B"/>
                </a:solidFill>
                <a:latin typeface="Calibri"/>
              </a:defRPr>
            </a:pPr>
            <a:r>
              <a:t>TAKEAWAY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371600"/>
            <a:ext cx="9144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Calibri"/>
              </a:defRPr>
            </a:pPr>
            <a:r>
              <a:t>Calibration is fragile.</a:t>
            </a:r>
            <a:br/>
            <a:r>
              <a:t>Recalibration is practical.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47472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AAAAAA"/>
                </a:solidFill>
                <a:latin typeface="Calibri"/>
              </a:defRPr>
            </a:pPr>
            <a:r>
              <a:t>Multihorizon hazard models are not inherently robust to</a:t>
            </a:r>
            <a:br/>
            <a:r>
              <a:t>operational distribution shift, but a lightweight recalibration</a:t>
            </a:r>
            <a:br/>
            <a:r>
              <a:t>step suffices for field deployment.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53035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88888"/>
                </a:solidFill>
                <a:latin typeface="Calibri"/>
              </a:defRPr>
            </a:pPr>
            <a:r>
              <a:t>Shikdar &amp; Laaksonen — University of Vaasa, Finland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0" y="64008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748B"/>
                </a:solidFill>
                <a:latin typeface="Calibri"/>
              </a:defRPr>
            </a:pPr>
            <a:r>
              <a:t>15 / 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