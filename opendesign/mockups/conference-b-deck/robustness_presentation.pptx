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How Far Does the</a:t>
            </a:r>
            <a:br/>
            <a:r>
              <a:t>Model Hold?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474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CCCCCC"/>
                </a:solidFill>
                <a:latin typeface="Calibri"/>
              </a:defRPr>
            </a:pPr>
            <a:r>
              <a:t>Robustness of Multihorizon Battery</a:t>
            </a:r>
            <a:br/>
            <a:r>
              <a:t>Failure Intelligence Under Realistic Conditions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99999"/>
                </a:solidFill>
                <a:latin typeface="Calibri"/>
              </a:defRPr>
            </a:pPr>
            <a:r>
              <a:t>Shikdar &amp; Laaksonen — University of Vaasa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Lab results don't travel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Calibri"/>
              </a:defRPr>
            </a:pPr>
            <a:r>
              <a:t>The published hazard model was trained on clean lab data: full cycles, fixed C-rates, controlled temperatures.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Calibri"/>
              </a:defRPr>
            </a:pPr>
            <a:r>
              <a:t>Real BESS operation is fundamentally different: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Calibri"/>
              </a:defRPr>
            </a:pPr>
            <a:r>
              <a:t>• Partial cycling — varying depths of discharge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1E293B"/>
                </a:solidFill>
                <a:latin typeface="Calibri"/>
              </a:defRPr>
            </a:pPr>
            <a:r>
              <a:t>• Temperature noise — sensor drift, thermal gradients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1E293B"/>
                </a:solidFill>
                <a:latin typeface="Calibri"/>
              </a:defRPr>
            </a:pPr>
            <a:r>
              <a:t>• Irregular rest — variable idle between cycles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1828800"/>
            <a:ext cx="4114800" cy="27432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0" y="22860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DC2626"/>
                </a:solidFill>
                <a:latin typeface="Calibri"/>
              </a:defRPr>
            </a:pPr>
            <a:r>
              <a:t>Does calibration survive</a:t>
            </a:r>
            <a:br/>
            <a:r>
              <a:t>when the model meets real data?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9E0B"/>
                </a:solidFill>
                <a:latin typeface="Calibri"/>
              </a:defRPr>
            </a:pPr>
            <a:r>
              <a:t>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Systematic robustness test</a:t>
            </a:r>
            <a:br/>
            <a:r>
              <a:t>across four severity levels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4747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AAAAA"/>
                </a:solidFill>
                <a:latin typeface="Calibri"/>
              </a:defRPr>
            </a:pPr>
            <a:r>
              <a:t>Perturb lab data → apply frozen model →</a:t>
            </a:r>
            <a:br/>
            <a:r>
              <a:t>measure calibration → test recalibration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EXPERIMENTAL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Perturbation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  <a:latin typeface="Calibri"/>
              </a:defRPr>
            </a:pPr>
            <a:r>
              <a:t>NASA discharge curves truncated at random DoD, with Gaussian temperature noise and proportional rest noise.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011680"/>
          <a:ext cx="47548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960"/>
                <a:gridCol w="1584960"/>
                <a:gridCol w="1584960"/>
              </a:tblGrid>
              <a:tr h="420624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DoD 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Temp noise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75–100%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±0.5°C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55–75%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±1.0°C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35–55%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±2.0°C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15–35%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±3.0°C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41148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5 seeds per level · 20 perturbed datasets · 20,560 records</a:t>
            </a:r>
          </a:p>
        </p:txBody>
      </p:sp>
      <p:pic>
        <p:nvPicPr>
          <p:cNvPr id="8" name="Picture 7" descr="fig_e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97280"/>
            <a:ext cx="5303520" cy="3535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KEY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Calibration degrades ~9×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60320" cy="146304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1520" y="1391600"/>
            <a:ext cx="248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Calibri"/>
              </a:defRPr>
            </a:pPr>
            <a:r>
              <a:t>0.031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520" y="2749640"/>
            <a:ext cx="248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Clean baseline ECE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1520" y="2784640"/>
            <a:ext cx="248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H=20, lab conditions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371600"/>
            <a:ext cx="2560320" cy="146304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14720" y="1391600"/>
            <a:ext cx="248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Calibri"/>
              </a:defRPr>
            </a:pPr>
            <a:r>
              <a:t>0.28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14720" y="2749640"/>
            <a:ext cx="248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Perturbed ECE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4720" y="2784640"/>
            <a:ext cx="248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Severity 1–4, H=20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371600"/>
            <a:ext cx="2560320" cy="146304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57920" y="1391600"/>
            <a:ext cx="248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Calibri"/>
              </a:defRPr>
            </a:pPr>
            <a:r>
              <a:t>0.65–0.74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7920" y="2749640"/>
            <a:ext cx="248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Perturbed AUC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57920" y="2784640"/>
            <a:ext cx="248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Down from 0.985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0" y="1371600"/>
            <a:ext cx="2560320" cy="146304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1120" y="1391600"/>
            <a:ext cx="248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Calibri"/>
              </a:defRPr>
            </a:pPr>
            <a:r>
              <a:t>S1 saturates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1120" y="2749640"/>
            <a:ext cx="248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Near-max loss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1120" y="2784640"/>
            <a:ext cx="248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Even 75–100% DoD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20040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Calibri"/>
              </a:defRPr>
            </a:pPr>
            <a:r>
              <a:t>• ECE jumps 0.031 → 0.277–0.293 — a nine-fold increase at H=20</a:t>
            </a:r>
          </a:p>
          <a:p>
            <a:pPr algn="l">
              <a:spcBef>
                <a:spcPts val="800"/>
              </a:spcBef>
              <a:defRPr sz="1800" b="0">
                <a:solidFill>
                  <a:srgbClr val="1E293B"/>
                </a:solidFill>
                <a:latin typeface="Calibri"/>
              </a:defRPr>
            </a:pPr>
            <a:r>
              <a:t>• Degradation saturates at Severity 1: even minimal partial cycling causes near-max loss</a:t>
            </a:r>
          </a:p>
          <a:p>
            <a:pPr algn="l">
              <a:spcBef>
                <a:spcPts val="800"/>
              </a:spcBef>
              <a:defRPr sz="1800" b="0">
                <a:solidFill>
                  <a:srgbClr val="1E293B"/>
                </a:solidFill>
                <a:latin typeface="Calibri"/>
              </a:defRPr>
            </a:pPr>
            <a:r>
              <a:t>• AUC drops more gracefully (0.985 → 0.65–0.74): discrimination ≠ calibration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Root cause: Vmin shift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Calibri"/>
              </a:defRPr>
            </a:pPr>
            <a:r>
              <a:t>The primary driver is a shift in the minimum voltage feature under partial cycling.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194560" cy="1280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1520" y="2031680"/>
            <a:ext cx="211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Calibri"/>
              </a:defRPr>
            </a:pPr>
            <a:r>
              <a:t>2.3 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1520" y="3206840"/>
            <a:ext cx="211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Full discharge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2011680"/>
            <a:ext cx="2194560" cy="1280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0400" y="2031680"/>
            <a:ext cx="211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Calibri"/>
              </a:defRPr>
            </a:pPr>
            <a:r>
              <a:t>3.2 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0400" y="3206840"/>
            <a:ext cx="211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75% DoD truncation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56616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Calibri"/>
              </a:defRPr>
            </a:pPr>
            <a:r>
              <a:t>A 39% increase — the XGBoost model learned thresholds on clean ranges; the isotonic calibrator can't adapt to the shifted distribution.</a:t>
            </a:r>
          </a:p>
        </p:txBody>
      </p:sp>
      <p:pic>
        <p:nvPicPr>
          <p:cNvPr id="13" name="Picture 12" descr="fig_reli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97280"/>
            <a:ext cx="5303520" cy="46405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SHAP confirms Vmin dominance</a:t>
            </a:r>
          </a:p>
        </p:txBody>
      </p:sp>
      <p:pic>
        <p:nvPicPr>
          <p:cNvPr id="5" name="Picture 4" descr="fig_sh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9418320" cy="408092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6217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Vmin is the dominant feature under both clean and perturbed regimes. Under perturbation, every feature distribution shifts, breaking the calibrator.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9E0B"/>
                </a:solidFill>
                <a:latin typeface="Calibri"/>
              </a:defRPr>
            </a:pPr>
            <a:r>
              <a:t>KEY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Recalibration on 10%</a:t>
            </a:r>
            <a:br/>
            <a:r>
              <a:t>recovers 71–88% of the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474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AAAAA"/>
                </a:solidFill>
                <a:latin typeface="Calibri"/>
              </a:defRPr>
            </a:pPr>
            <a:r>
              <a:t>ECE drops from ~0.28 to 0.06–0.09</a:t>
            </a:r>
            <a:br/>
            <a:r>
              <a:t>Evaluated on held-out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7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Recalibration: held-out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  <a:latin typeface="Calibri"/>
              </a:defRPr>
            </a:pPr>
            <a:r>
              <a:t>Isotonic regression fit on 10%, evaluated on held-out 90%: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737360"/>
          <a:ext cx="47548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188720"/>
                <a:gridCol w="1188720"/>
                <a:gridCol w="1188720"/>
              </a:tblGrid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Horizon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Clean ECE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Perturbed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Recalibrated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H=10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0.272–0.313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0.057–0.076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H=20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0.277–0.293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0.060–0.073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H=30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0.288–0.316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0.076–0.092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H=50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0.331–0.381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0.080–0.094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41148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Recovery consistent across all severity levels and horizons</a:t>
            </a:r>
          </a:p>
        </p:txBody>
      </p:sp>
      <p:pic>
        <p:nvPicPr>
          <p:cNvPr id="8" name="Picture 7" descr="fig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97280"/>
            <a:ext cx="5303520" cy="43392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Three operating zones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86000"/>
            <a:ext cx="3291840" cy="274320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16A34A"/>
                </a:solidFill>
                <a:latin typeface="Calibri"/>
              </a:defRPr>
            </a:pPr>
            <a:r>
              <a:t>● Safe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E293B"/>
                </a:solidFill>
                <a:latin typeface="Calibri"/>
              </a:defRPr>
            </a:pPr>
            <a:r>
              <a:t>ECE &lt; 0.05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747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Clean lab conditions 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286000"/>
            <a:ext cx="3291840" cy="274320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5603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Calibri"/>
              </a:defRPr>
            </a:pPr>
            <a:r>
              <a:t>● Warning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31089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E293B"/>
                </a:solidFill>
                <a:latin typeface="Calibri"/>
              </a:defRPr>
            </a:pPr>
            <a:r>
              <a:t>ECE 0.05–0.10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4747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Recalibrated operation</a:t>
            </a:r>
            <a:br/>
            <a:r>
              <a:t>10% operational sample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286000"/>
            <a:ext cx="3291840" cy="27432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25603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C2626"/>
                </a:solidFill>
                <a:latin typeface="Calibri"/>
              </a:defRPr>
            </a:pPr>
            <a:r>
              <a:t>● Unsafe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31089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E293B"/>
                </a:solidFill>
                <a:latin typeface="Calibri"/>
              </a:defRPr>
            </a:pPr>
            <a:r>
              <a:t>ECE &gt; 0.10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34747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Direct deployment under</a:t>
            </a:r>
            <a:br/>
            <a:r>
              <a:t>any partial cycling (ECE &gt; 0.27)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03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4748B"/>
                </a:solidFill>
                <a:latin typeface="Calibri"/>
              </a:defRPr>
            </a:pPr>
            <a:r>
              <a:t>Direct deployment under partial cycling pushes ECE &gt; 0.27 — firmly in the unsafe zone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Practical deployment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6858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E293B"/>
                </a:solidFill>
                <a:latin typeface="Calibri"/>
              </a:defRPr>
            </a:pPr>
            <a:r>
              <a:t>1. Deploy the frozen XGBoost model as-is</a:t>
            </a:r>
          </a:p>
          <a:p>
            <a:pPr algn="l">
              <a:spcBef>
                <a:spcPts val="1000"/>
              </a:spcBef>
              <a:defRPr sz="2000" b="0">
                <a:solidFill>
                  <a:srgbClr val="1E293B"/>
                </a:solidFill>
                <a:latin typeface="Calibri"/>
              </a:defRPr>
            </a:pPr>
            <a:r>
              <a:t>2. Collect 50–100 operational cycles from normal BESS operation</a:t>
            </a:r>
          </a:p>
          <a:p>
            <a:pPr algn="l">
              <a:spcBef>
                <a:spcPts val="1000"/>
              </a:spcBef>
              <a:defRPr sz="2000" b="0">
                <a:solidFill>
                  <a:srgbClr val="1E293B"/>
                </a:solidFill>
                <a:latin typeface="Calibri"/>
              </a:defRPr>
            </a:pPr>
            <a:r>
              <a:t>3. Fit a new isotonic regression on these cycles</a:t>
            </a:r>
          </a:p>
          <a:p>
            <a:pPr algn="l">
              <a:spcBef>
                <a:spcPts val="1000"/>
              </a:spcBef>
              <a:defRPr sz="2000" b="0">
                <a:solidFill>
                  <a:srgbClr val="1E293B"/>
                </a:solidFill>
                <a:latin typeface="Calibri"/>
              </a:defRPr>
            </a:pPr>
            <a:r>
              <a:t>4. Deploy the recalibrated model — no base classifier retraining needed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8912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Calibri"/>
              </a:defRPr>
            </a:pPr>
            <a:r>
              <a:t>No original training data required · No additional feature engineering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1828800"/>
            <a:ext cx="32004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201168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16A34A"/>
                </a:solidFill>
                <a:latin typeface="Calibri"/>
              </a:defRPr>
            </a:pPr>
            <a:r>
              <a:t>10%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56032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4748B"/>
                </a:solidFill>
                <a:latin typeface="Calibri"/>
              </a:defRPr>
            </a:pPr>
            <a:r>
              <a:t>operational sample suffices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11 /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9E0B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Calibration is fragile.</a:t>
            </a:r>
            <a:br/>
            <a:r>
              <a:t>Recalibration is practical.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4747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AAAAA"/>
                </a:solidFill>
                <a:latin typeface="Calibri"/>
              </a:defRPr>
            </a:pPr>
            <a:r>
              <a:t>Multihorizon hazard models are not inherently robust to</a:t>
            </a:r>
            <a:br/>
            <a:r>
              <a:t>operational distribution shift, but a lightweight recalibration</a:t>
            </a:r>
            <a:br/>
            <a:r>
              <a:t>step suffices for field deployment.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303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Calibri"/>
              </a:defRPr>
            </a:pPr>
            <a:r>
              <a:t>Shikdar &amp; Laaksonen — University of Vaasa, Finland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